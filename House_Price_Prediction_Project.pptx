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548640"/>
            <a:ext cx="2468880" cy="246888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0" y="2011680"/>
            <a:ext cx="1645920" cy="2560320"/>
          </a:xfrm>
          <a:prstGeom prst="round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4023360"/>
            <a:ext cx="2377440" cy="1554480"/>
          </a:xfrm>
          <a:prstGeom prst="roundRect">
            <a:avLst/>
          </a:prstGeom>
          <a:solidFill>
            <a:srgbClr val="23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722376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BBEAD"/>
                </a:solidFill>
                <a:latin typeface="Aptos"/>
              </a:defRPr>
            </a:pPr>
            <a:r>
              <a:t>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7406640" cy="1325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House Price</a:t>
            </a:r>
            <a:br/>
            <a:r>
              <a:t>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676656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800" b="0">
                <a:solidFill>
                  <a:srgbClr val="D7E1F1"/>
                </a:solidFill>
                <a:latin typeface="Aptos"/>
              </a:defRPr>
            </a:pPr>
            <a:r>
              <a:t>A machine-learning application to estimate residential property prices from housing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166360"/>
            <a:ext cx="70408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Fantasy Solution  | 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15000"/>
            <a:ext cx="713232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B4C4DD"/>
                </a:solidFill>
                <a:latin typeface="Aptos"/>
              </a:defRPr>
            </a:pPr>
            <a:r>
              <a:t>Built with Python, XGBoost and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B4C4D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What is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An end-to-end workflow for data preparation, model training and interactive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000" b="1">
                <a:solidFill>
                  <a:srgbClr val="121F3A"/>
                </a:solidFill>
                <a:latin typeface="Aptos"/>
              </a:defRPr>
            </a:pPr>
            <a:r>
              <a:t>The system estimates a house's sale price from property characteristics such as area, quality, age, bathrooms, bedrooms, garage capacity and neighborhood.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73152" cy="2148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889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Data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101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Loads housing records from a SQL database or a local CSV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73152" cy="214884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889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3101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Cleans records and creates useful property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73152" cy="214884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889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ML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3101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Trains an XGBoost regression model and evaluates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743200"/>
            <a:ext cx="2377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743200"/>
            <a:ext cx="73152" cy="2148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889504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310128"/>
            <a:ext cx="1993392" cy="1490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Streamlit form accepts property details and displays an estimate.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63738B"/>
                </a:solidFill>
                <a:latin typeface="Aptos"/>
              </a:defRPr>
            </a:pPr>
            <a:r>
              <a:t>Goal: make data-driven property valuation more consistent and accessible.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Why do we need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A structured prediction workflow can support faster and more consistent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429768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000" b="1">
                <a:solidFill>
                  <a:srgbClr val="121F3A"/>
                </a:solidFill>
                <a:latin typeface="Aptos"/>
              </a:defRPr>
            </a:pPr>
            <a:r>
              <a:t>Traditional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4782312" cy="3639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• Manual comparison with nearby properties</a:t>
            </a:r>
            <a:br/>
            <a:br/>
            <a:r>
              <a:t>• Depends heavily on individual experience</a:t>
            </a:r>
            <a:br/>
            <a:br/>
            <a:r>
              <a:t>• Can be slow and difficult to standardize</a:t>
            </a:r>
            <a:br/>
            <a:br/>
            <a:r>
              <a:t>• Different evaluators may give different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429768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55063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000" b="1">
                <a:solidFill>
                  <a:srgbClr val="121F3A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75688"/>
            <a:ext cx="4782312" cy="3639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• Uses historical housing data</a:t>
            </a:r>
            <a:br/>
            <a:br/>
            <a:r>
              <a:t>• Evaluates several property attributes together</a:t>
            </a:r>
            <a:br/>
            <a:br/>
            <a:r>
              <a:t>• Applies repeatable preprocessing and a trained model</a:t>
            </a:r>
            <a:br/>
            <a:br/>
            <a:r>
              <a:t>• Returns an estimated sale price through a simple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How the system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Training flow and prediction flow are separated but share the same saved model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14173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16002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21F3A"/>
                </a:solidFill>
                <a:latin typeface="Aptos"/>
              </a:defRPr>
            </a:pPr>
            <a:r>
              <a:t>1. 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41448"/>
            <a:ext cx="1581912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253144"/>
                </a:solidFill>
                <a:latin typeface="Aptos"/>
              </a:defRPr>
            </a:pPr>
            <a:r>
              <a:t>SQL database /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304288"/>
            <a:ext cx="29260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200" b="1">
                <a:solidFill>
                  <a:srgbClr val="2F6F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74519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74519"/>
            <a:ext cx="73152" cy="141732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020824"/>
            <a:ext cx="16002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21F3A"/>
                </a:solidFill>
                <a:latin typeface="Aptos"/>
              </a:defRPr>
            </a:pPr>
            <a:r>
              <a:t>2. Prepare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441448"/>
            <a:ext cx="1581912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253144"/>
                </a:solidFill>
                <a:latin typeface="Aptos"/>
              </a:defRPr>
            </a:pPr>
            <a:r>
              <a:t>Clean + engineer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304288"/>
            <a:ext cx="29260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200" b="1">
                <a:solidFill>
                  <a:srgbClr val="2F6F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74519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874519"/>
            <a:ext cx="73152" cy="141732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020824"/>
            <a:ext cx="16002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21F3A"/>
                </a:solidFill>
                <a:latin typeface="Aptos"/>
              </a:defRPr>
            </a:pPr>
            <a:r>
              <a:t>3. Train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441448"/>
            <a:ext cx="1581912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253144"/>
                </a:solidFill>
                <a:latin typeface="Aptos"/>
              </a:defRPr>
            </a:pPr>
            <a:r>
              <a:t>Preprocess +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2304288"/>
            <a:ext cx="29260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200" b="1">
                <a:solidFill>
                  <a:srgbClr val="2F6F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874519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874519"/>
            <a:ext cx="73152" cy="14173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020824"/>
            <a:ext cx="16002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21F3A"/>
                </a:solidFill>
                <a:latin typeface="Aptos"/>
              </a:defRPr>
            </a:pPr>
            <a:r>
              <a:t>4. 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441448"/>
            <a:ext cx="1581912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253144"/>
                </a:solidFill>
                <a:latin typeface="Aptos"/>
              </a:defRPr>
            </a:pPr>
            <a:r>
              <a:t>RMSE, MAE, 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304288"/>
            <a:ext cx="29260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200" b="1">
                <a:solidFill>
                  <a:srgbClr val="2F6F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874519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874519"/>
            <a:ext cx="73152" cy="141732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2020824"/>
            <a:ext cx="160020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21F3A"/>
                </a:solidFill>
                <a:latin typeface="Aptos"/>
              </a:defRPr>
            </a:pPr>
            <a:r>
              <a:t>5. Save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441448"/>
            <a:ext cx="1581912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253144"/>
                </a:solidFill>
                <a:latin typeface="Aptos"/>
              </a:defRPr>
            </a:pPr>
            <a:r>
              <a:t>Joblib model 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0690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4069080"/>
            <a:ext cx="73152" cy="12344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9968" y="4215384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636008"/>
            <a:ext cx="2907792" cy="576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Collects property details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40690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95160" y="4069080"/>
            <a:ext cx="73152" cy="123444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6328" y="4215384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Price 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636008"/>
            <a:ext cx="2907792" cy="576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Loads saved pipeline and displays estimate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480560"/>
            <a:ext cx="13716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400" b="1">
                <a:solidFill>
                  <a:srgbClr val="2F6F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71500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400" b="1">
                <a:solidFill>
                  <a:srgbClr val="63738B"/>
                </a:solidFill>
                <a:latin typeface="Aptos"/>
              </a:defRPr>
            </a:pPr>
            <a:r>
              <a:t>Same feature engineering and preprocessing are used during training and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The project covers the main stages of a practical machine-learning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Flexible data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SQL loading with CSV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73152" cy="169164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56362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Drops missing sale prices and filters extreme target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417320"/>
            <a:ext cx="73152" cy="169164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56362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98424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House age, years since remodeling, total bathrooms and total square footage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1246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3308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Median imputation + scaling for numeric data; imputation + one-hot encoding for neighborhood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661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566160"/>
            <a:ext cx="73152" cy="16916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71246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Regression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13308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XGBoost estimates the log-transformed sale 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5661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566160"/>
            <a:ext cx="73152" cy="169164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71246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1">
                <a:solidFill>
                  <a:srgbClr val="121F3A"/>
                </a:solidFill>
                <a:latin typeface="Aptos"/>
              </a:defRPr>
            </a:pPr>
            <a:r>
              <a:t>Model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133088"/>
            <a:ext cx="3090672" cy="10332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Joblib saves the fitted pipeline for reuse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Model development follows a repeatable data science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71600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53896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53312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353312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Read property listings from SQL or CSV.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30552"/>
            <a:ext cx="438912" cy="438912"/>
          </a:xfrm>
          <a:prstGeom prst="ellipse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12264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12264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Remove rows with missing sale_price and filter target values between the 1st and 99th percentiles.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889504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71216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71216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Engineer derived features; impute, scale and encode inputs.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648456"/>
            <a:ext cx="438912" cy="438912"/>
          </a:xfrm>
          <a:prstGeom prst="ellipse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30752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30168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630168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Use an 80:20 train-test split with random_state 42.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407408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9704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89120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89120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Fit an XGBoost regression model and use five-fold cross-validation.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166359"/>
            <a:ext cx="438912" cy="438912"/>
          </a:xfrm>
          <a:prstGeom prst="ellipse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48655"/>
            <a:ext cx="438912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48072"/>
            <a:ext cx="1874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Evaluate &amp;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148072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Measure RMSE, MAE and R²; persist the fitted pipeline with Joblib.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Prediction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The saved model pipeline is reused for each individual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425196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48920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900" b="1">
                <a:solidFill>
                  <a:srgbClr val="121F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873752" cy="3593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1. User enters property attributes in Streamlit</a:t>
            </a:r>
            <a:br/>
            <a:br/>
            <a:r>
              <a:t>2. Create a single-row DataFrame</a:t>
            </a:r>
            <a:br/>
            <a:br/>
            <a:r>
              <a:t>3. Generate engineered features</a:t>
            </a:r>
            <a:br/>
            <a:br/>
            <a:r>
              <a:t>4. Load the saved Joblib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425196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8920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900" b="1">
                <a:solidFill>
                  <a:srgbClr val="121F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873752" cy="3593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5. Apply preprocessing and XGBoost</a:t>
            </a:r>
            <a:br/>
            <a:br/>
            <a:r>
              <a:t>6. Predict on the log-transformed price scale</a:t>
            </a:r>
            <a:br/>
            <a:br/>
            <a:r>
              <a:t>7. Convert back with expm1()</a:t>
            </a:r>
            <a:br/>
            <a:br/>
            <a:r>
              <a:t>8. Format and display the estimated sale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89320"/>
            <a:ext cx="10149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400" b="1">
                <a:solidFill>
                  <a:srgbClr val="63738B"/>
                </a:solidFill>
                <a:latin typeface="Aptos"/>
              </a:defRPr>
            </a:pPr>
            <a:r>
              <a:t>Important: the estimate is based on patterns learned from historical training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Technology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Tools described in the project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XGBoost + scikit-learn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5087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73152" cy="150876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8386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04487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pandas + NumPy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48386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904487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37560"/>
            <a:ext cx="73152" cy="15087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483864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Database /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04487"/>
            <a:ext cx="3044952" cy="8503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SQLAlchemy, Docker and AWS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4068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500" b="1">
                <a:solidFill>
                  <a:srgbClr val="121F3A"/>
                </a:solidFill>
                <a:latin typeface="Aptos"/>
              </a:defRPr>
            </a:pPr>
            <a:r>
              <a:t>Evaluation metrics: RMSE (error magnitude), MAE (average absolute error) and R² (explained variation).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800" b="1">
                <a:solidFill>
                  <a:srgbClr val="121F3A"/>
                </a:solidFill>
                <a:latin typeface="Aptos"/>
              </a:defRPr>
            </a:pPr>
            <a:r>
              <a:t>Application output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63738B"/>
                </a:solidFill>
                <a:latin typeface="Aptos"/>
              </a:defRPr>
            </a:pPr>
            <a:r>
              <a:t>The report describes the implemented prediction form and proposed interface mockups.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6373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1828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0934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3090672" cy="11704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Introduces the House Price Predictor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182880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0934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Prediction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29968"/>
            <a:ext cx="3090672" cy="11704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Accepts area, quality, condition, years, bathrooms, bedrooms, garage and neighborhood.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73152" cy="182880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09344"/>
            <a:ext cx="31089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Prediction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29968"/>
            <a:ext cx="3090672" cy="11704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Displays an estimated sale price after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73152" cy="16002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49624"/>
            <a:ext cx="48920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Implemented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8"/>
            <a:ext cx="4873752" cy="9418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Streamlit form, Predict Price action, error handling and saved model pipeline.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033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73152" cy="160020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9624"/>
            <a:ext cx="48920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21F3A"/>
                </a:solidFill>
                <a:latin typeface="Aptos"/>
              </a:defRPr>
            </a:pPr>
            <a:r>
              <a:t>Evaluation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270248"/>
            <a:ext cx="4873752" cy="9418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The report specifies RMSE, MAE and R², but does not provide actual numerical results; no performance values are claimed 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200" b="0">
                <a:solidFill>
                  <a:srgbClr val="63738B"/>
                </a:solidFill>
                <a:latin typeface="Aptos"/>
              </a:defRPr>
            </a:pPr>
            <a:r>
              <a:t>Data Explorer and visualization screens in the report are mockups, not confirmed implemented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42416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 and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08760"/>
            <a:ext cx="73152" cy="361188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55063"/>
            <a:ext cx="46634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900" b="1">
                <a:solidFill>
                  <a:srgbClr val="121F3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075688"/>
            <a:ext cx="4645152" cy="29535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• Demonstrates an end-to-end ML workflow</a:t>
            </a:r>
            <a:br/>
            <a:br/>
            <a:r>
              <a:t>• Combines data cleaning, feature engineering, preprocessing and XGBoost</a:t>
            </a:r>
            <a:br/>
            <a:br/>
            <a:r>
              <a:t>• Provides an interactive Streamlit prediction interface</a:t>
            </a:r>
            <a:br/>
            <a:br/>
            <a:r>
              <a:t>• Offers practical experience in data science and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029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73152" cy="3611880"/>
          </a:xfrm>
          <a:prstGeom prst="rect">
            <a:avLst/>
          </a:prstGeom>
          <a:solidFill>
            <a:srgbClr val="2B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55063"/>
            <a:ext cx="466344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900" b="1">
                <a:solidFill>
                  <a:srgbClr val="121F3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75688"/>
            <a:ext cx="4645152" cy="29535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53144"/>
                </a:solidFill>
                <a:latin typeface="Aptos"/>
              </a:defRPr>
            </a:pPr>
            <a:r>
              <a:t>• Add property images and text features</a:t>
            </a:r>
            <a:br/>
            <a:br/>
            <a:r>
              <a:t>• Incorporate geographic and market information</a:t>
            </a:r>
            <a:br/>
            <a:br/>
            <a:r>
              <a:t>• Monitor real-time market changes</a:t>
            </a:r>
            <a:br/>
            <a:br/>
            <a:r>
              <a:t>• Deploy the containerized app to AWS</a:t>
            </a:r>
            <a:br/>
            <a:br/>
            <a:r>
              <a:t>• Improve model evaluation with additional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96012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500" b="1">
                <a:solidFill>
                  <a:srgbClr val="2BBEAD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000" b="0">
                <a:solidFill>
                  <a:srgbClr val="B4C4D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